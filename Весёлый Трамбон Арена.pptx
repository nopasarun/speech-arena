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мультиплеерная 3D-комната на Godot, где игрок разговаривает голосом с NPC, которым управляет Claude. Каждая реплика двигает счёт симпатии.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restaurant_date задан в AiBackend.gd. Персонаж специально не вежливый ассистент: на нарушение границ реагирует холодно.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TurnManager.gd — серверная машина состояний: IDLE → PLAYER_TURN → PROCESSING → NPC_TURN. Состояние хранится отдельно для каждой комнаты.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реплики — иллюстративный. Формат задан в FORMAT_RULES, парсер — _parse_npc_response. История комнаты — последние 10 обменов.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NetworkManager.gd + LocalServer.gd. Всё на GDScript; backend/app.py на FastAPI остался как альтернативная реализация.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Настоящего стриминга нет: потоковый STT Яндекса — gRPC, из GDScript он недоступен. Каждое обновление — отдельный запрос, тарифицируется по 15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Файлы в .claude/hillclimb/rapport-judge: cases.json, runner.py, отчёт report.html. Пример кейса: сангвиник листает TikTok, игрок подходит на 1,5 метра и спрашивает, можно ли подсесть.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посчитаны из results.jsonl каждой версии (baseline, v1, v2, v3). Правило про дистанцию: сокращение дистанции — уверенность, отдаление — неуверенность даже при вежливой реплике; повтор проигнорированной фразы — бестактность.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Сейчас в игре стоит Haiku 4.5 (CLAUDE_MODEL в AiBackend.gd). Решение о смене модели — компромисс между точностью и задержкой 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из README: это осознанные упрощения вертикального среза, чтобы не утонуть в инфраструктуре.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gradFill rotWithShape="1">
            <a:gsLst>
              <a:gs pos="0">
                <a:srgbClr val="E0603F">
                  <a:alpha val="55000"/>
                </a:srgbClr>
              </a:gs>
              <a:gs pos="45000">
                <a:srgbClr val="6B2F4A">
                  <a:alpha val="55000"/>
                </a:srgbClr>
              </a:gs>
              <a:gs pos="80000">
                <a:srgbClr val="1C1830">
                  <a:alpha val="55000"/>
                </a:srgbClr>
              </a:gs>
            </a:gsLst>
            <a:path path="circle">
              <a:fillToRect l="70000" t="40000" r="30000" b="6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8A6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GODOT 4 · CLAUDE · ЯНДЕКС SPEECHKIT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957189"/>
            <a:ext cx="91567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5F0E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Весёлый Трамбон Арена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811389"/>
            <a:ext cx="8502650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Голосовой 3D-тренажёр общения: ты говоришь с ИИ-персонажем вслух, а он отвечает голосом, жестами и оценкой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Сентябрь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ИДЕЯ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Первое свидание, которое можно провалить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542977"/>
            <a:ext cx="3380284" cy="2413893"/>
          </a:xfrm>
          <a:prstGeom prst="roundRect">
            <a:avLst>
              <a:gd name="adj" fmla="val 6182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pic>
        <p:nvPicPr>
          <p:cNvPr id="5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2850952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950" y="3308152"/>
            <a:ext cx="284726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Сцена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23950" y="3653532"/>
            <a:ext cx="2847264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3D-ресторан. За столиком — Аня, немного застенчивая, живо реагирует на слова и поступки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5809" y="2542977"/>
            <a:ext cx="3380383" cy="2413893"/>
          </a:xfrm>
          <a:prstGeom prst="roundRect">
            <a:avLst>
              <a:gd name="adj" fmla="val 6182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3784" y="2850952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13784" y="3308152"/>
            <a:ext cx="284736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Разговор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13784" y="3653532"/>
            <a:ext cx="28473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Игрок говорит в микрофон или печатает. На ход — 30 секунд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5741" y="2542977"/>
            <a:ext cx="3380284" cy="2413893"/>
          </a:xfrm>
          <a:prstGeom prst="roundRect">
            <a:avLst>
              <a:gd name="adj" fmla="val 6182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pic>
        <p:nvPicPr>
          <p:cNvPr id="13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03716" y="2850952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3716" y="3308152"/>
            <a:ext cx="284726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Симпатия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303716" y="3653532"/>
            <a:ext cx="284726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Каждая реплика двигает счёт от −2 до +3. Грубость Аня не сглаживает — может и уйти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2361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КАК ПРОХОДИТ ХОД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 голоса игрока до жеста NPC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61691"/>
            <a:ext cx="1702991" cy="1182291"/>
          </a:xfrm>
          <a:prstGeom prst="roundRect">
            <a:avLst>
              <a:gd name="adj" fmla="val 10473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468066"/>
            <a:ext cx="13410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 · Игрок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757587"/>
            <a:ext cx="134104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Речь или текст, 30 с</a:t>
            </a:r>
            <a:endParaRPr lang="en-US" sz="14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23741" y="2814737"/>
            <a:ext cx="304800" cy="7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33316" y="2141736"/>
            <a:ext cx="1703090" cy="1422301"/>
          </a:xfrm>
          <a:prstGeom prst="roundRect">
            <a:avLst>
              <a:gd name="adj" fmla="val 8706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39691" y="2348111"/>
            <a:ext cx="1341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 · STT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39691" y="2637631"/>
            <a:ext cx="134114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Яндекс SpeechKit → текст</a:t>
            </a:r>
            <a:endParaRPr lang="en-US" sz="14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1180" y="2814737"/>
            <a:ext cx="304800" cy="7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47580" y="2144911"/>
            <a:ext cx="1696740" cy="1415951"/>
          </a:xfrm>
          <a:prstGeom prst="roundRect">
            <a:avLst>
              <a:gd name="adj" fmla="val 8969"/>
            </a:avLst>
          </a:prstGeom>
          <a:solidFill>
            <a:srgbClr val="1C1830"/>
          </a:solidFill>
          <a:ln/>
        </p:spPr>
      </p:sp>
      <p:sp>
        <p:nvSpPr>
          <p:cNvPr id="13" name="Text 9"/>
          <p:cNvSpPr/>
          <p:nvPr/>
        </p:nvSpPr>
        <p:spPr>
          <a:xfrm>
            <a:off x="5450780" y="2348111"/>
            <a:ext cx="1341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8A6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 · LLM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50780" y="2637631"/>
            <a:ext cx="1341140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Claude Haiku: реплика, жесты, оценка</a:t>
            </a:r>
            <a:endParaRPr lang="en-US" sz="1400" dirty="0"/>
          </a:p>
        </p:txBody>
      </p:sp>
      <p:pic>
        <p:nvPicPr>
          <p:cNvPr id="15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45920" y="2814737"/>
            <a:ext cx="304800" cy="76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55495" y="2261691"/>
            <a:ext cx="1703090" cy="1182291"/>
          </a:xfrm>
          <a:prstGeom prst="roundRect">
            <a:avLst>
              <a:gd name="adj" fmla="val 10473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61870" y="2468066"/>
            <a:ext cx="1341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4 · TTS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661870" y="2757587"/>
            <a:ext cx="134114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Голос alena → mp3</a:t>
            </a:r>
            <a:endParaRPr lang="en-US" sz="1400" dirty="0"/>
          </a:p>
        </p:txBody>
      </p:sp>
      <p:pic>
        <p:nvPicPr>
          <p:cNvPr id="1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3360" y="2814737"/>
            <a:ext cx="304800" cy="76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72935" y="2261691"/>
            <a:ext cx="1703090" cy="1182291"/>
          </a:xfrm>
          <a:prstGeom prst="roundRect">
            <a:avLst>
              <a:gd name="adj" fmla="val 10473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79310" y="2468066"/>
            <a:ext cx="1341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5 · Клиенты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879310" y="2757587"/>
            <a:ext cx="134114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Звук, жесты, счёт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2800" y="4075212"/>
            <a:ext cx="91567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Пока NPC «говорит», таймер игрока стоит: пауза равна длительности mp3. Вся цепочка крутится только на сервере — ключи API у клиентов не нужны.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12800" y="6238280"/>
            <a:ext cx="2434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ОТВЕТ NPC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строки вместо JSON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36961"/>
            <a:ext cx="5435600" cy="1930400"/>
          </a:xfrm>
          <a:prstGeom prst="roundRect">
            <a:avLst>
              <a:gd name="adj" fmla="val 7895"/>
            </a:avLst>
          </a:prstGeom>
          <a:solidFill>
            <a:srgbClr val="1C1830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341761"/>
            <a:ext cx="49707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8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РЕПЛИКА:</a:t>
            </a:r>
            <a:r>
              <a:rPr lang="en-US" sz="1400" dirty="0">
                <a:solidFill>
                  <a:srgbClr val="F5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Ой, привет! Я как раз не знала, что заказать.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3002161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8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ДЕЙСТВИЯ:</a:t>
            </a:r>
            <a:r>
              <a:rPr lang="en-US" sz="1400" dirty="0">
                <a:solidFill>
                  <a:srgbClr val="F5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nod, talk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3395861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8A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ОЦЕНКА:</a:t>
            </a:r>
            <a:r>
              <a:rPr lang="en-US" sz="1400" dirty="0">
                <a:solidFill>
                  <a:srgbClr val="F5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53200" y="2036961"/>
            <a:ext cx="49707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Реплика может содержать кавычки — построчный формат разбирается надёжнее JSON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53200" y="2712442"/>
            <a:ext cx="49707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Жесты — из словаря talk, turn, nod, shrug, idle; болванчик отыгрывает их твинами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53200" y="3387923"/>
            <a:ext cx="49707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Оценка: −2 грубость · 0 нейтрально · +3 идеальное попадание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486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Звезда через выделенный сервер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0136"/>
            <a:ext cx="3011984" cy="1527572"/>
          </a:xfrm>
          <a:prstGeom prst="roundRect">
            <a:avLst>
              <a:gd name="adj" fmla="val 9769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97311"/>
            <a:ext cx="257256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Клиенты Godot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617291"/>
            <a:ext cx="257256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Вид от первого лица, WASD, микрофон. Только воспроизводят готовый ответ</a:t>
            </a:r>
            <a:endParaRPr lang="en-US" sz="1300" dirty="0"/>
          </a:p>
        </p:txBody>
      </p:sp>
      <p:pic>
        <p:nvPicPr>
          <p:cNvPr id="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83534" y="2765822"/>
            <a:ext cx="457200" cy="7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93134" y="2043311"/>
            <a:ext cx="3005733" cy="1521222"/>
          </a:xfrm>
          <a:prstGeom prst="roundRect">
            <a:avLst>
              <a:gd name="adj" fmla="val 10018"/>
            </a:avLst>
          </a:prstGeom>
          <a:solidFill>
            <a:srgbClr val="1C1830"/>
          </a:solidFill>
          <a:ln/>
        </p:spPr>
      </p:sp>
      <p:sp>
        <p:nvSpPr>
          <p:cNvPr id="9" name="Text 6"/>
          <p:cNvSpPr/>
          <p:nvPr/>
        </p:nvSpPr>
        <p:spPr>
          <a:xfrm>
            <a:off x="4847134" y="2297311"/>
            <a:ext cx="25726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Сервер ENet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7134" y="2617291"/>
            <a:ext cx="257266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Порт 7777, комнаты по коду, до 128 пиров. Вся ИИ-логика здесь</a:t>
            </a:r>
            <a:endParaRPr lang="en-US" sz="1300" dirty="0"/>
          </a:p>
        </p:txBody>
      </p:sp>
      <p:pic>
        <p:nvPicPr>
          <p:cNvPr id="1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51266" y="2765822"/>
            <a:ext cx="457200" cy="7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64041" y="2040136"/>
            <a:ext cx="3011984" cy="1527572"/>
          </a:xfrm>
          <a:prstGeom prst="roundRect">
            <a:avLst>
              <a:gd name="adj" fmla="val 9769"/>
            </a:avLst>
          </a:prstGeom>
          <a:solidFill>
            <a:srgbClr val="FFFCF6"/>
          </a:solidFill>
          <a:ln w="6350">
            <a:solidFill>
              <a:srgbClr val="E3DA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21216" y="2297311"/>
            <a:ext cx="257256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Внешние API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621216" y="2617291"/>
            <a:ext cx="2572563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Claude (Anthropic) и Яндекс SpeechKit, повторы на 408/429/5xx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2800" y="3977283"/>
            <a:ext cx="98107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Запуск в один клик: игра сама поднимает тот же проект дочерним headless-процессом на 127.0.0.1 и гасит его, когда все ушли. Флаг </a:t>
            </a:r>
            <a:r>
              <a:rPr lang="en-US" sz="1400" b="1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--server=IP</a:t>
            </a: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отцепляет клиент на внешний сервер.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2460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ВВОД И НАДЁЖНОСТЬ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Два способа сказать, один честный провал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52502"/>
            <a:ext cx="3386634" cy="0"/>
          </a:xfrm>
          <a:prstGeom prst="line">
            <a:avLst/>
          </a:prstGeom>
          <a:noFill/>
          <a:ln w="25400">
            <a:solidFill>
              <a:srgbClr val="B84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768402"/>
            <a:ext cx="34882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Голос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113782"/>
            <a:ext cx="3488233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Живой текст: каждые 1,5 с сервер заново распознаёт накопленную запись. Его можно поправить перед отправкой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2634" y="2552502"/>
            <a:ext cx="3386634" cy="0"/>
          </a:xfrm>
          <a:prstGeom prst="line">
            <a:avLst/>
          </a:prstGeom>
          <a:noFill/>
          <a:ln w="25400">
            <a:solidFill>
              <a:srgbClr val="B84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2634" y="2768402"/>
            <a:ext cx="34882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Клавиатура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02634" y="3113782"/>
            <a:ext cx="3488233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Печатаешь и жмёшь Enter. Когда отсчёт дошёл до нуля — уходит то, что успел набрать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2467" y="2552502"/>
            <a:ext cx="3386634" cy="0"/>
          </a:xfrm>
          <a:prstGeom prst="line">
            <a:avLst/>
          </a:prstGeom>
          <a:noFill/>
          <a:ln w="25400">
            <a:solidFill>
              <a:srgbClr val="B84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2467" y="2768402"/>
            <a:ext cx="34882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83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Без заглушек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92467" y="3113782"/>
            <a:ext cx="3488233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До 3 попыток на запрос. Не вышло — ход проваливается, игрок видит причину и повторяет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4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8A6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СЛЕДУЮЩАЯ МЕХАНИКА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9810750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Судья симпатии по психотипам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36961"/>
            <a:ext cx="2489200" cy="700980"/>
          </a:xfrm>
          <a:prstGeom prst="roundRect">
            <a:avLst>
              <a:gd name="adj" fmla="val 18117"/>
            </a:avLst>
          </a:prstGeom>
          <a:solidFill>
            <a:srgbClr val="2A2442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265561"/>
            <a:ext cx="209296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Сангвиник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5200" y="2036961"/>
            <a:ext cx="2489200" cy="700980"/>
          </a:xfrm>
          <a:prstGeom prst="roundRect">
            <a:avLst>
              <a:gd name="adj" fmla="val 18117"/>
            </a:avLst>
          </a:prstGeom>
          <a:solidFill>
            <a:srgbClr val="2A2442"/>
          </a:solidFill>
          <a:ln/>
        </p:spPr>
      </p:sp>
      <p:sp>
        <p:nvSpPr>
          <p:cNvPr id="7" name="Text 5"/>
          <p:cNvSpPr/>
          <p:nvPr/>
        </p:nvSpPr>
        <p:spPr>
          <a:xfrm>
            <a:off x="3733800" y="2265561"/>
            <a:ext cx="209296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Холерик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2036961"/>
            <a:ext cx="2489200" cy="700980"/>
          </a:xfrm>
          <a:prstGeom prst="roundRect">
            <a:avLst>
              <a:gd name="adj" fmla="val 18117"/>
            </a:avLst>
          </a:prstGeom>
          <a:solidFill>
            <a:srgbClr val="2A2442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2265561"/>
            <a:ext cx="209296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Флегматик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890000" y="2036961"/>
            <a:ext cx="2489200" cy="700980"/>
          </a:xfrm>
          <a:prstGeom prst="roundRect">
            <a:avLst>
              <a:gd name="adj" fmla="val 18117"/>
            </a:avLst>
          </a:prstGeom>
          <a:solidFill>
            <a:srgbClr val="2A2442"/>
          </a:solidFill>
          <a:ln/>
        </p:spPr>
      </p:sp>
      <p:sp>
        <p:nvSpPr>
          <p:cNvPr id="11" name="Text 9"/>
          <p:cNvSpPr/>
          <p:nvPr/>
        </p:nvSpPr>
        <p:spPr>
          <a:xfrm>
            <a:off x="9118600" y="2265561"/>
            <a:ext cx="209296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Меланхолик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144341"/>
            <a:ext cx="9810750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У NPC — смесь психотипов с весами. Судья получает окружение, действия и реплику игрока и должен предсказать изменение симпатии (±1) и уйдёт ли NPC. Набор: </a:t>
            </a:r>
            <a:r>
              <a:rPr lang="en-US" sz="1600" b="1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26 кейсов × 2 прогона</a:t>
            </a:r>
            <a:r>
              <a:rPr lang="en-US" sz="16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— совпадения, промахи, ловушки, контекст.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2291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РЕЗУЛЬТАТЫ EVAL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Четыре версии судьи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9251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986161"/>
            <a:ext cx="0" cy="2171105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2113161"/>
          <a:ext cx="10248900" cy="1929805"/>
        </p:xfrm>
        <a:graphic>
          <a:graphicData uri="http://schemas.openxmlformats.org/drawingml/2006/table">
            <a:tbl>
              <a:tblPr/>
              <a:tblGrid>
                <a:gridCol w="4099560"/>
                <a:gridCol w="1537335"/>
                <a:gridCol w="1537335"/>
                <a:gridCol w="1537335"/>
                <a:gridCol w="153733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Версия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Δ±1 ↑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Уход ↑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|Δerr| ↓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Задержка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Haiku 4.5, базовый промпт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88,5%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92,3%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0,75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1,6 с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Sonnet 5, базовый промпт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92,3%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86,5%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0,42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3,2 с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Haiku 4.5 + дистанция и повторы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90,4%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92,3%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0,67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1,8 с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Sonnet 5 + дистанция и повторы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96,2%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88,5%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0,31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D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2,8 с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CD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512866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Δ±1 — доля попаданий в ожидаемое изменение симпатии; «Уход» — верно ли угадано, закончит ли NPC сцену; |Δerr| — средняя ошибка. Средние по 52 прогонам.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246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3267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FE3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ВЫВОД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50790"/>
            <a:ext cx="10464800" cy="1602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FF6E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Правило про дистанцию помогает обеим моделям, но точнее всех — Sonnet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232870"/>
            <a:ext cx="981075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E3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Ошибка оценки у Sonnet вдвое меньше (0,31 против 0,67), но ответ приходит примерно на секунду дольше. Кейс seed_B не решила ни одна версия — это следующая цель для промпта.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2466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E3D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432A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ОГРАНИЧЕНИЯ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C183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осознанно оставлено на потом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43311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2036961"/>
            <a:ext cx="0" cy="2557066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7900" y="2163961"/>
          <a:ext cx="10248900" cy="2315766"/>
        </p:xfrm>
        <a:graphic>
          <a:graphicData uri="http://schemas.openxmlformats.org/drawingml/2006/table">
            <a:tbl>
              <a:tblPr/>
              <a:tblGrid>
                <a:gridCol w="3074670"/>
                <a:gridCol w="7174230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Область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Сейчас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ED7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Голосовой чат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Сырой float32 PCM по ENet: без Opus, джиттер-буфера и эхоподавления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Веб-экспорт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Не проверен; Яндекс не отдаёт CORS, нужен внешний сервер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Роли зрителей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Все в комнате говорят на равных правах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Анимация NPC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Жесты — твины трансформа, без скелета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Распознавание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183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Повторные запросы вместо настоящего стриминга</a:t>
                      </a:r>
                      <a:endParaRPr lang="en-US" sz="14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2075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4A5E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8A6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ДАЛЬШЕ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Следующие шаги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36961"/>
            <a:ext cx="5181600" cy="1041400"/>
          </a:xfrm>
          <a:prstGeom prst="roundRect">
            <a:avLst>
              <a:gd name="adj" fmla="val 12195"/>
            </a:avLst>
          </a:prstGeom>
          <a:solidFill>
            <a:srgbClr val="2A2442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90961"/>
            <a:ext cx="161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6C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30127" y="2290961"/>
            <a:ext cx="454258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Встроить психотипы NPC и судью симпатии в игровую сессию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2036961"/>
            <a:ext cx="5181600" cy="1041400"/>
          </a:xfrm>
          <a:prstGeom prst="roundRect">
            <a:avLst>
              <a:gd name="adj" fmla="val 12195"/>
            </a:avLst>
          </a:prstGeom>
          <a:solidFill>
            <a:srgbClr val="2A2442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290961"/>
            <a:ext cx="2213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6C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74557" y="2290961"/>
            <a:ext cx="44811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Выбрать модель: Haiku ради скорости или Sonnet ради точности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281561"/>
            <a:ext cx="5181600" cy="1041400"/>
          </a:xfrm>
          <a:prstGeom prst="roundRect">
            <a:avLst>
              <a:gd name="adj" fmla="val 12195"/>
            </a:avLst>
          </a:prstGeom>
          <a:solidFill>
            <a:srgbClr val="2A2442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535561"/>
            <a:ext cx="21828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6C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86681" y="3535561"/>
            <a:ext cx="44843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Роль «зритель» с правом голоса и серверной таблицей громкости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7600" y="3281561"/>
            <a:ext cx="5181600" cy="1041400"/>
          </a:xfrm>
          <a:prstGeom prst="roundRect">
            <a:avLst>
              <a:gd name="adj" fmla="val 12195"/>
            </a:avLst>
          </a:prstGeom>
          <a:solidFill>
            <a:srgbClr val="2A24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535561"/>
            <a:ext cx="22492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8A6C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78129" y="3535561"/>
            <a:ext cx="447748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Голос на WebRTC + SFU (LiveKit или mediasoup) для 10+ зрителей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615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2D8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Весёлый Трамбон Арена</dc:title>
  <dc:subject>PptxGenJS Presentation</dc:subject>
  <dc:creator>PptxGenJS</dc:creator>
  <cp:lastModifiedBy>PptxGenJS</cp:lastModifiedBy>
  <cp:revision>1</cp:revision>
  <dcterms:created xsi:type="dcterms:W3CDTF">2026-09-29T17:38:01Z</dcterms:created>
  <dcterms:modified xsi:type="dcterms:W3CDTF">2026-09-29T17:38:01Z</dcterms:modified>
</cp:coreProperties>
</file>